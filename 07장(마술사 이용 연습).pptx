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38" r:id="rId2"/>
    <p:sldId id="362" r:id="rId3"/>
    <p:sldId id="348" r:id="rId4"/>
    <p:sldId id="341" r:id="rId5"/>
    <p:sldId id="350" r:id="rId6"/>
    <p:sldId id="351" r:id="rId7"/>
    <p:sldId id="353" r:id="rId8"/>
    <p:sldId id="352" r:id="rId9"/>
    <p:sldId id="344" r:id="rId10"/>
    <p:sldId id="354" r:id="rId11"/>
    <p:sldId id="355" r:id="rId12"/>
    <p:sldId id="359" r:id="rId13"/>
    <p:sldId id="357" r:id="rId14"/>
    <p:sldId id="345" r:id="rId15"/>
    <p:sldId id="346" r:id="rId16"/>
    <p:sldId id="347" r:id="rId17"/>
    <p:sldId id="358" r:id="rId18"/>
    <p:sldId id="361" r:id="rId19"/>
    <p:sldId id="360" r:id="rId20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54" autoAdjust="0"/>
    <p:restoredTop sz="94629" autoAdjust="0"/>
  </p:normalViewPr>
  <p:slideViewPr>
    <p:cSldViewPr>
      <p:cViewPr varScale="1">
        <p:scale>
          <a:sx n="83" d="100"/>
          <a:sy n="83" d="100"/>
        </p:scale>
        <p:origin x="112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4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413" y="1"/>
            <a:ext cx="3077474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50EAC-F98F-4A71-8C0A-3BF8B50249A9}" type="datetimeFigureOut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041" y="4860925"/>
            <a:ext cx="5681980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1"/>
            <a:ext cx="30774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413" y="9721851"/>
            <a:ext cx="3077474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2830C-3C2F-4F01-9B7C-6C749AC12E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74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5CBE-D3C6-4BD6-9386-F759D0930A65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>
            <a:lvl1pPr algn="l">
              <a:defRPr sz="4000" b="0" kern="700" spc="-300" baseline="0">
                <a:solidFill>
                  <a:schemeClr val="tx2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611560" y="1059543"/>
            <a:ext cx="8075240" cy="5066620"/>
          </a:xfrm>
        </p:spPr>
        <p:txBody>
          <a:bodyPr/>
          <a:lstStyle>
            <a:lvl1pPr marL="268288" indent="-268288" latinLnBrk="0">
              <a:defRPr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marL="628650" indent="-285750" latinLnBrk="0">
              <a:defRPr>
                <a:latin typeface="Rix고딕 M" panose="02020603020101020101" pitchFamily="18" charset="-127"/>
                <a:ea typeface="Rix고딕 M" panose="02020603020101020101" pitchFamily="18" charset="-127"/>
              </a:defRPr>
            </a:lvl2pPr>
            <a:lvl3pPr latinLnBrk="0">
              <a:defRPr>
                <a:latin typeface="Rix고딕 M" panose="02020603020101020101" pitchFamily="18" charset="-127"/>
                <a:ea typeface="Rix고딕 M" panose="02020603020101020101" pitchFamily="18" charset="-127"/>
              </a:defRPr>
            </a:lvl3pPr>
            <a:lvl4pPr latinLnBrk="0">
              <a:defRPr>
                <a:latin typeface="Rix고딕 M" panose="02020603020101020101" pitchFamily="18" charset="-127"/>
                <a:ea typeface="Rix고딕 M" panose="02020603020101020101" pitchFamily="18" charset="-127"/>
              </a:defRPr>
            </a:lvl4pPr>
            <a:lvl5pPr latinLnBrk="0">
              <a:defRPr>
                <a:latin typeface="Rix고딕 M" panose="02020603020101020101" pitchFamily="18" charset="-127"/>
                <a:ea typeface="Rix고딕 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4ABE3-83C4-414B-8D84-F195E81E8E4D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0A49-BCB1-4E9B-88AF-35C2CFEBFD98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35671-8A1B-4164-B17E-E9D3188240A4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402BD-CCDF-4932-8CC5-EC14C36E916B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7521-D0C1-4688-A047-CA509D3A8AC0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54E63-4CB0-421C-81C3-F922868FC975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BC33-474D-4BDE-AAF4-FB498FCCB1BE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A2E4-9498-4FBB-990A-E1DF920AD805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BB3AA-6E7D-4B9A-BFEC-2987DD72C151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150D-45CD-464B-957D-BE9CE5875ADB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42A27-0039-47FE-957C-3B0CC75B733B}" type="datetime1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95536" y="1124745"/>
            <a:ext cx="8352928" cy="2190104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spc="-300">
                <a:solidFill>
                  <a:schemeClr val="tx2">
                    <a:lumMod val="7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제</a:t>
            </a:r>
            <a:r>
              <a:rPr lang="en-US" altLang="ko-KR" sz="4000" spc="-300" dirty="0">
                <a:solidFill>
                  <a:schemeClr val="tx2">
                    <a:lumMod val="7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7</a:t>
            </a:r>
            <a:r>
              <a:rPr lang="ko-KR" altLang="en-US" sz="4000" spc="-300">
                <a:solidFill>
                  <a:schemeClr val="tx2">
                    <a:lumMod val="7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장 </a:t>
            </a:r>
            <a:br>
              <a:rPr lang="en-US" altLang="ko-KR" sz="4000" spc="-300" dirty="0">
                <a:solidFill>
                  <a:schemeClr val="tx2">
                    <a:lumMod val="7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4000" spc="-300" dirty="0">
                <a:solidFill>
                  <a:schemeClr val="tx2">
                    <a:lumMod val="7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마술사를 이용한 코딩 연습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C32770A9-95BF-4E6C-B6EE-6116A1CB0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ko-KR" altLang="en-US" sz="2400">
                <a:latin typeface="Rix고딕 B" panose="02020603020101020101" pitchFamily="18" charset="-127"/>
                <a:ea typeface="Rix고딕 B" panose="02020603020101020101" pitchFamily="18" charset="-127"/>
              </a:rPr>
              <a:t>변 영 철</a:t>
            </a:r>
            <a:endParaRPr lang="ko-KR" altLang="en-US" sz="2400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B5A1B-0261-8AB0-2ECE-BF912956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 연습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FD52C4-6F85-4801-DCE9-68BE8FB99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간편하게 마술사로 코드를 생성</a:t>
            </a:r>
            <a:endParaRPr lang="en-US" altLang="ko-KR" dirty="0"/>
          </a:p>
          <a:p>
            <a:r>
              <a:rPr lang="ko-KR" altLang="en-US" dirty="0"/>
              <a:t>마술사가 만든 코드를 지워서 앞서 우리가 작성했던 코드로 단순화 해보기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1E9434-287E-8524-308B-EA290BD5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716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01. </a:t>
            </a:r>
            <a:r>
              <a:rPr lang="ko-KR" altLang="en-US" dirty="0"/>
              <a:t>프로젝트 작성 및 사전작업</a:t>
            </a:r>
            <a:endParaRPr lang="ko-KR" altLang="en-US" spc="-5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My3 </a:t>
            </a:r>
            <a:r>
              <a:rPr lang="ko-KR" altLang="en-US" dirty="0"/>
              <a:t>프로젝트 생성</a:t>
            </a:r>
            <a:endParaRPr lang="en-US" altLang="ko-KR" dirty="0"/>
          </a:p>
          <a:p>
            <a:pPr lvl="1"/>
            <a:r>
              <a:rPr lang="en-US" altLang="ko-KR" dirty="0"/>
              <a:t>Visual C# |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Windows Forms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응용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프로그램</a:t>
            </a:r>
            <a:endParaRPr lang="en-US" altLang="ko-KR" dirty="0"/>
          </a:p>
          <a:p>
            <a:r>
              <a:rPr lang="ko-KR" altLang="en-US" dirty="0"/>
              <a:t>파일이름 바꾸기</a:t>
            </a:r>
            <a:endParaRPr lang="en-US" altLang="ko-KR" dirty="0"/>
          </a:p>
          <a:p>
            <a:pPr lvl="1"/>
            <a:r>
              <a:rPr lang="en-US" altLang="ko-KR" dirty="0" err="1"/>
              <a:t>Program.cs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My3.cs</a:t>
            </a:r>
          </a:p>
          <a:p>
            <a:pPr lvl="1"/>
            <a:r>
              <a:rPr lang="en-US" altLang="ko-KR" dirty="0"/>
              <a:t>Form1.cs </a:t>
            </a:r>
            <a:r>
              <a:rPr lang="ko-KR" altLang="en-US" dirty="0"/>
              <a:t>→ </a:t>
            </a:r>
            <a:r>
              <a:rPr lang="en-US" altLang="ko-KR" dirty="0" err="1"/>
              <a:t>MainForm.cs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0052" y="4509120"/>
            <a:ext cx="46101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6F38CF5-8D81-4B1E-B834-95B5A007BFA5}"/>
              </a:ext>
            </a:extLst>
          </p:cNvPr>
          <p:cNvSpPr/>
          <p:nvPr/>
        </p:nvSpPr>
        <p:spPr>
          <a:xfrm>
            <a:off x="5836874" y="2669219"/>
            <a:ext cx="2695566" cy="923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/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파일 이름 위에서 오른쪽 마우스 버튼 클릭하여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‘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이름 바꾸기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’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380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</a:t>
            </a:r>
            <a:r>
              <a:rPr lang="ko-KR" altLang="en-US" dirty="0"/>
              <a:t>폼 윈도우 </a:t>
            </a:r>
            <a:r>
              <a:rPr lang="ko-KR" altLang="en-US" dirty="0" err="1"/>
              <a:t>비주얼</a:t>
            </a:r>
            <a:r>
              <a:rPr lang="ko-KR" altLang="en-US" dirty="0"/>
              <a:t> 디자인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5526" y="1196752"/>
            <a:ext cx="8091273" cy="4525963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MainForm.cs</a:t>
            </a:r>
            <a:r>
              <a:rPr lang="en-US" altLang="ko-KR" sz="2800" dirty="0"/>
              <a:t> </a:t>
            </a:r>
            <a:r>
              <a:rPr lang="ko-KR" altLang="en-US" sz="2800" dirty="0"/>
              <a:t>클릭하여 폼 윈도우 크기 변경</a:t>
            </a:r>
            <a:endParaRPr lang="en-US" altLang="ko-KR" sz="2800" dirty="0"/>
          </a:p>
          <a:p>
            <a:r>
              <a:rPr lang="ko-KR" altLang="en-US" sz="2800"/>
              <a:t>보기 </a:t>
            </a:r>
            <a:r>
              <a:rPr lang="en-US" altLang="ko-KR" sz="2800"/>
              <a:t>| </a:t>
            </a:r>
            <a:r>
              <a:rPr lang="ko-KR" altLang="en-US" sz="2800" dirty="0"/>
              <a:t>속성 메뉴 항목을 선택하여 </a:t>
            </a:r>
            <a:r>
              <a:rPr lang="ko-KR" altLang="en-US" sz="2800" dirty="0" err="1">
                <a:solidFill>
                  <a:schemeClr val="accent2"/>
                </a:solidFill>
              </a:rPr>
              <a:t>속성창</a:t>
            </a:r>
            <a:r>
              <a:rPr lang="ko-KR" altLang="en-US" sz="2800" dirty="0"/>
              <a:t> 표시</a:t>
            </a:r>
          </a:p>
          <a:p>
            <a:r>
              <a:rPr lang="ko-KR" altLang="en-US" sz="2800"/>
              <a:t>타이틀</a:t>
            </a:r>
            <a:r>
              <a:rPr lang="en-US" altLang="ko-KR" sz="2800"/>
              <a:t>(Text </a:t>
            </a:r>
            <a:r>
              <a:rPr lang="ko-KR" altLang="en-US" sz="2800"/>
              <a:t>속성</a:t>
            </a:r>
            <a:r>
              <a:rPr lang="en-US" altLang="ko-KR" sz="2800"/>
              <a:t>)</a:t>
            </a:r>
            <a:r>
              <a:rPr lang="ko-KR" altLang="en-US" sz="2800"/>
              <a:t> </a:t>
            </a:r>
            <a:r>
              <a:rPr lang="ko-KR" altLang="en-US" sz="2800" dirty="0"/>
              <a:t>변경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116622392" descr="EMB00000a3839e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3253" y="2852936"/>
            <a:ext cx="5893003" cy="3672408"/>
          </a:xfrm>
          <a:prstGeom prst="rect">
            <a:avLst/>
          </a:prstGeom>
          <a:noFill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3202087"/>
            <a:ext cx="5416633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388" y="347663"/>
            <a:ext cx="7515225" cy="6033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59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함수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추가</a:t>
            </a:r>
            <a:endParaRPr lang="ko-KR" altLang="en-US" spc="-5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059543"/>
            <a:ext cx="8352928" cy="5066620"/>
          </a:xfrm>
        </p:spPr>
        <p:txBody>
          <a:bodyPr/>
          <a:lstStyle/>
          <a:p>
            <a:r>
              <a:rPr lang="en-US" altLang="ko-KR" dirty="0"/>
              <a:t>Click </a:t>
            </a:r>
            <a:r>
              <a:rPr lang="ko-KR" altLang="en-US" dirty="0"/>
              <a:t>이벤트 </a:t>
            </a:r>
            <a:r>
              <a:rPr lang="ko-KR" altLang="en-US" dirty="0" err="1"/>
              <a:t>핸들러</a:t>
            </a:r>
            <a:r>
              <a:rPr lang="ko-KR" altLang="en-US" dirty="0"/>
              <a:t> 함수 </a:t>
            </a:r>
            <a:r>
              <a:rPr lang="en-US" altLang="ko-KR" dirty="0"/>
              <a:t>xxx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r>
              <a:rPr lang="ko-KR" altLang="en-US" dirty="0"/>
              <a:t>속성 창 </a:t>
            </a:r>
            <a:r>
              <a:rPr lang="en-US" altLang="ko-KR" dirty="0"/>
              <a:t>| </a:t>
            </a:r>
            <a:r>
              <a:rPr lang="ko-KR" altLang="en-US" dirty="0"/>
              <a:t>번개 아이콘 </a:t>
            </a:r>
            <a:r>
              <a:rPr lang="en-US" altLang="ko-KR" dirty="0"/>
              <a:t>|</a:t>
            </a:r>
            <a:r>
              <a:rPr lang="ko-KR" altLang="en-US" dirty="0"/>
              <a:t> </a:t>
            </a:r>
            <a:r>
              <a:rPr lang="en-US" altLang="ko-KR" dirty="0"/>
              <a:t>Click </a:t>
            </a:r>
            <a:r>
              <a:rPr lang="ko-KR" altLang="en-US" dirty="0"/>
              <a:t>이벤트 옆에 </a:t>
            </a:r>
            <a:r>
              <a:rPr lang="en-US" altLang="ko-KR" dirty="0"/>
              <a:t>xxx </a:t>
            </a:r>
            <a:r>
              <a:rPr lang="ko-KR" altLang="en-US" dirty="0"/>
              <a:t>입력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7096656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970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500" dirty="0"/>
              <a:t>04. </a:t>
            </a:r>
            <a:r>
              <a:rPr lang="ko-KR" altLang="en-US" spc="-500" dirty="0"/>
              <a:t>자동으로 생성된 코드 확인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Click </a:t>
            </a:r>
            <a:r>
              <a:rPr lang="ko-KR" altLang="en-US"/>
              <a:t>델리게이트 초기화 코드</a:t>
            </a:r>
            <a:endParaRPr lang="en-US" altLang="ko-KR"/>
          </a:p>
          <a:p>
            <a:pPr lvl="1"/>
            <a:r>
              <a:rPr lang="en-US" altLang="ko-KR"/>
              <a:t>InitializeComponent </a:t>
            </a:r>
            <a:r>
              <a:rPr lang="ko-KR" altLang="en-US"/>
              <a:t>멤버함수 내</a:t>
            </a:r>
            <a:endParaRPr lang="en-US" altLang="ko-KR"/>
          </a:p>
          <a:p>
            <a:r>
              <a:rPr lang="en-US" altLang="ko-KR"/>
              <a:t>xxx </a:t>
            </a:r>
            <a:r>
              <a:rPr lang="ko-KR" altLang="en-US" dirty="0" err="1"/>
              <a:t>핸들러</a:t>
            </a:r>
            <a:r>
              <a:rPr lang="ko-KR" altLang="en-US" dirty="0"/>
              <a:t> 함수 </a:t>
            </a:r>
            <a:r>
              <a:rPr lang="en-US" altLang="ko-KR" dirty="0"/>
              <a:t>(</a:t>
            </a:r>
            <a:r>
              <a:rPr lang="ko-KR" altLang="en-US" dirty="0"/>
              <a:t>사용자 </a:t>
            </a:r>
            <a:r>
              <a:rPr lang="ko-KR" altLang="en-US"/>
              <a:t>코드</a:t>
            </a:r>
            <a:r>
              <a:rPr lang="en-US" altLang="ko-KR"/>
              <a:t>)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224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05.</a:t>
            </a:r>
            <a:r>
              <a:rPr lang="ko-KR" altLang="en-US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함수 이름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변경 </a:t>
            </a:r>
            <a:r>
              <a:rPr lang="ko-KR" altLang="en-US" dirty="0"/>
              <a:t>연습하기 </a:t>
            </a:r>
            <a:endParaRPr lang="ko-KR" altLang="en-US" spc="-5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059543"/>
            <a:ext cx="8280920" cy="5066620"/>
          </a:xfrm>
        </p:spPr>
        <p:txBody>
          <a:bodyPr/>
          <a:lstStyle/>
          <a:p>
            <a:r>
              <a:rPr lang="ko-KR" altLang="en-US" dirty="0"/>
              <a:t>속성 창에서 </a:t>
            </a:r>
            <a:r>
              <a:rPr lang="en-US" altLang="ko-KR" dirty="0"/>
              <a:t>xxx → </a:t>
            </a:r>
            <a:r>
              <a:rPr lang="en-US" altLang="ko-KR" dirty="0" err="1"/>
              <a:t>MainForm_Click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99" y="1772816"/>
            <a:ext cx="7230555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151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242700"/>
            <a:ext cx="8075240" cy="1970276"/>
          </a:xfrm>
        </p:spPr>
        <p:txBody>
          <a:bodyPr/>
          <a:lstStyle/>
          <a:p>
            <a:r>
              <a:rPr lang="ko-KR" altLang="en-US"/>
              <a:t>폼 윈도</a:t>
            </a:r>
            <a:r>
              <a:rPr lang="en-US" altLang="ko-KR"/>
              <a:t>(</a:t>
            </a:r>
            <a:r>
              <a:rPr lang="ko-KR" altLang="en-US"/>
              <a:t>길동이 얼굴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ko-KR" altLang="en-US" dirty="0"/>
              <a:t>클릭할 경우 </a:t>
            </a:r>
            <a:r>
              <a:rPr lang="en-US" altLang="ko-KR" dirty="0"/>
              <a:t>“Click!” </a:t>
            </a:r>
            <a:r>
              <a:rPr lang="ko-KR" altLang="en-US"/>
              <a:t>문자열 출력</a:t>
            </a:r>
            <a:endParaRPr lang="en-US" altLang="ko-KR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904764" y="2636912"/>
            <a:ext cx="7488832" cy="28007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200" dirty="0"/>
              <a:t>private void </a:t>
            </a:r>
            <a:r>
              <a:rPr lang="en-US" altLang="ko-KR" sz="2200" dirty="0" err="1"/>
              <a:t>MainForm_Click</a:t>
            </a:r>
            <a:r>
              <a:rPr lang="en-US" altLang="ko-KR" sz="2200" dirty="0"/>
              <a:t>(object sender, </a:t>
            </a:r>
            <a:r>
              <a:rPr lang="en-US" altLang="ko-KR" sz="2200" dirty="0" err="1"/>
              <a:t>EventArgs</a:t>
            </a:r>
            <a:r>
              <a:rPr lang="en-US" altLang="ko-KR" sz="2200" dirty="0"/>
              <a:t> e)</a:t>
            </a:r>
          </a:p>
          <a:p>
            <a:r>
              <a:rPr lang="en-US" altLang="ko-KR" sz="2200"/>
              <a:t>{</a:t>
            </a:r>
          </a:p>
          <a:p>
            <a:endParaRPr lang="en-US" altLang="ko-KR" sz="2200" dirty="0"/>
          </a:p>
          <a:p>
            <a:r>
              <a:rPr lang="en-US" altLang="ko-KR" sz="2200" dirty="0">
                <a:solidFill>
                  <a:srgbClr val="0000FF"/>
                </a:solidFill>
              </a:rPr>
              <a:t>    </a:t>
            </a:r>
            <a:r>
              <a:rPr lang="en-US" altLang="ko-KR" sz="2200">
                <a:solidFill>
                  <a:srgbClr val="0000FF"/>
                </a:solidFill>
              </a:rPr>
              <a:t>Graphics cheolsu </a:t>
            </a:r>
            <a:r>
              <a:rPr lang="en-US" altLang="ko-KR" sz="2200" dirty="0">
                <a:solidFill>
                  <a:srgbClr val="0000FF"/>
                </a:solidFill>
              </a:rPr>
              <a:t>= </a:t>
            </a:r>
            <a:r>
              <a:rPr lang="en-US" altLang="ko-KR" sz="2200" dirty="0" err="1">
                <a:solidFill>
                  <a:srgbClr val="0000FF"/>
                </a:solidFill>
              </a:rPr>
              <a:t>this.CreateGraphics</a:t>
            </a:r>
            <a:r>
              <a:rPr lang="en-US" altLang="ko-KR" sz="2200" dirty="0">
                <a:solidFill>
                  <a:srgbClr val="0000FF"/>
                </a:solidFill>
              </a:rPr>
              <a:t>(); </a:t>
            </a:r>
            <a:endParaRPr lang="en-US" altLang="ko-KR" sz="2200" dirty="0">
              <a:solidFill>
                <a:srgbClr val="FF0000"/>
              </a:solidFill>
            </a:endParaRPr>
          </a:p>
          <a:p>
            <a:endParaRPr lang="ko-KR" altLang="en-US" sz="2200" dirty="0">
              <a:solidFill>
                <a:srgbClr val="0000FF"/>
              </a:solidFill>
            </a:endParaRPr>
          </a:p>
          <a:p>
            <a:r>
              <a:rPr lang="en-US" altLang="ko-KR" sz="2200">
                <a:solidFill>
                  <a:srgbClr val="0000FF"/>
                </a:solidFill>
              </a:rPr>
              <a:t>    cheolsu.</a:t>
            </a:r>
            <a:r>
              <a:rPr lang="en-US" altLang="ko-KR" sz="2200" err="1">
                <a:solidFill>
                  <a:srgbClr val="0000FF"/>
                </a:solidFill>
              </a:rPr>
              <a:t>DrawString</a:t>
            </a:r>
            <a:r>
              <a:rPr lang="en-US" altLang="ko-KR" sz="2200">
                <a:solidFill>
                  <a:srgbClr val="0000FF"/>
                </a:solidFill>
              </a:rPr>
              <a:t>("Click</a:t>
            </a:r>
            <a:r>
              <a:rPr lang="en-US" altLang="ko-KR" sz="2200" dirty="0">
                <a:solidFill>
                  <a:srgbClr val="0000FF"/>
                </a:solidFill>
              </a:rPr>
              <a:t>!", Font, </a:t>
            </a:r>
          </a:p>
          <a:p>
            <a:r>
              <a:rPr lang="en-US" altLang="ko-KR" sz="2200" dirty="0">
                <a:solidFill>
                  <a:srgbClr val="0000FF"/>
                </a:solidFill>
              </a:rPr>
              <a:t>           new </a:t>
            </a:r>
            <a:r>
              <a:rPr lang="en-US" altLang="ko-KR" sz="2200" dirty="0" err="1">
                <a:solidFill>
                  <a:srgbClr val="0000FF"/>
                </a:solidFill>
              </a:rPr>
              <a:t>SolidBrush</a:t>
            </a:r>
            <a:r>
              <a:rPr lang="en-US" altLang="ko-KR" sz="2200" dirty="0">
                <a:solidFill>
                  <a:srgbClr val="0000FF"/>
                </a:solidFill>
              </a:rPr>
              <a:t>(</a:t>
            </a:r>
            <a:r>
              <a:rPr lang="en-US" altLang="ko-KR" sz="2200" dirty="0" err="1">
                <a:solidFill>
                  <a:srgbClr val="0000FF"/>
                </a:solidFill>
              </a:rPr>
              <a:t>Color.Blue</a:t>
            </a:r>
            <a:r>
              <a:rPr lang="en-US" altLang="ko-KR" sz="2200" dirty="0">
                <a:solidFill>
                  <a:srgbClr val="0000FF"/>
                </a:solidFill>
              </a:rPr>
              <a:t>), 10, 10);</a:t>
            </a:r>
          </a:p>
          <a:p>
            <a:r>
              <a:rPr lang="en-US" altLang="ko-KR" sz="2200" dirty="0"/>
              <a:t>}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dirty="0"/>
              <a:t>06.</a:t>
            </a:r>
            <a:r>
              <a:rPr lang="ko-KR" altLang="en-US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함수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코드 작성</a:t>
            </a:r>
            <a:r>
              <a:rPr lang="ko-KR" altLang="en-US" dirty="0"/>
              <a:t> 연습하기</a:t>
            </a:r>
            <a:endParaRPr lang="ko-KR" altLang="en-US" spc="-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866A08-BB7F-44A1-A2F9-7FABB47765EE}"/>
              </a:ext>
            </a:extLst>
          </p:cNvPr>
          <p:cNvSpPr/>
          <p:nvPr/>
        </p:nvSpPr>
        <p:spPr>
          <a:xfrm>
            <a:off x="3275856" y="3140968"/>
            <a:ext cx="118974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화가 객체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31D7E48-E185-41D1-BF3A-0E807C8619C5}"/>
              </a:ext>
            </a:extLst>
          </p:cNvPr>
          <p:cNvCxnSpPr>
            <a:cxnSpLocks/>
          </p:cNvCxnSpPr>
          <p:nvPr/>
        </p:nvCxnSpPr>
        <p:spPr>
          <a:xfrm flipH="1">
            <a:off x="3275856" y="3501008"/>
            <a:ext cx="216024" cy="27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07.</a:t>
            </a:r>
            <a:r>
              <a:rPr lang="ko-KR" altLang="en-US" dirty="0"/>
              <a:t> 문제점</a:t>
            </a:r>
            <a:endParaRPr lang="ko-KR" altLang="en-US" spc="-5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24578" name="_x116622472" descr="EMB00000a3839d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907" y="1390551"/>
            <a:ext cx="3631693" cy="2016224"/>
          </a:xfrm>
          <a:prstGeom prst="rect">
            <a:avLst/>
          </a:prstGeom>
          <a:noFill/>
        </p:spPr>
      </p:pic>
      <p:pic>
        <p:nvPicPr>
          <p:cNvPr id="24577" name="_x116623112" descr="EMB00000a3839d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3816598"/>
            <a:ext cx="3631693" cy="2016224"/>
          </a:xfrm>
          <a:prstGeom prst="rect">
            <a:avLst/>
          </a:prstGeom>
          <a:noFill/>
        </p:spPr>
      </p:pic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935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500" dirty="0"/>
              <a:t>08. Paint </a:t>
            </a:r>
            <a:r>
              <a:rPr lang="ko-KR" altLang="en-US" spc="-500" dirty="0"/>
              <a:t>이벤트와 </a:t>
            </a:r>
            <a:r>
              <a:rPr lang="ko-KR" altLang="en-US" spc="-500" dirty="0" err="1"/>
              <a:t>핸들러</a:t>
            </a:r>
            <a:r>
              <a:rPr lang="ko-KR" altLang="en-US" spc="-500" dirty="0"/>
              <a:t> 함수 작성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143793"/>
            <a:ext cx="7848872" cy="4525963"/>
          </a:xfrm>
        </p:spPr>
        <p:txBody>
          <a:bodyPr/>
          <a:lstStyle/>
          <a:p>
            <a:pPr latinLnBrk="0"/>
            <a:r>
              <a:rPr lang="en-US" altLang="ko-KR" dirty="0"/>
              <a:t>Paint </a:t>
            </a:r>
            <a:r>
              <a:rPr lang="ko-KR" altLang="en-US" dirty="0"/>
              <a:t>이벤트 </a:t>
            </a:r>
            <a:endParaRPr lang="en-US" altLang="ko-KR" dirty="0"/>
          </a:p>
          <a:p>
            <a:pPr lvl="1" latinLnBrk="0"/>
            <a:r>
              <a:rPr lang="ko-KR" altLang="en-US" dirty="0"/>
              <a:t>폼 윈도가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다시 그려져야 할 때</a:t>
            </a:r>
            <a:r>
              <a:rPr lang="ko-KR" altLang="en-US" dirty="0"/>
              <a:t>마다 </a:t>
            </a:r>
            <a:r>
              <a:rPr lang="en-US" altLang="ko-KR" dirty="0"/>
              <a:t>‘</a:t>
            </a:r>
            <a:r>
              <a:rPr lang="ko-KR" altLang="en-US" dirty="0"/>
              <a:t>자동으로</a:t>
            </a:r>
            <a:r>
              <a:rPr lang="en-US" altLang="ko-KR" dirty="0"/>
              <a:t>’ </a:t>
            </a:r>
            <a:r>
              <a:rPr lang="ko-KR" altLang="en-US" dirty="0"/>
              <a:t>발생하는 이벤트</a:t>
            </a:r>
            <a:endParaRPr lang="en-US" altLang="ko-KR" dirty="0"/>
          </a:p>
          <a:p>
            <a:pPr algn="just" latinLnBrk="0"/>
            <a:r>
              <a:rPr lang="ko-KR" altLang="en-US" dirty="0"/>
              <a:t>속성창에서 </a:t>
            </a:r>
            <a:r>
              <a:rPr lang="ko-KR" altLang="en-US" dirty="0" err="1"/>
              <a:t>핸들러</a:t>
            </a:r>
            <a:r>
              <a:rPr lang="ko-KR" altLang="en-US" dirty="0"/>
              <a:t> </a:t>
            </a:r>
            <a:r>
              <a:rPr lang="ko-KR" altLang="en-US"/>
              <a:t>함수 </a:t>
            </a:r>
            <a:r>
              <a:rPr lang="en-US" altLang="ko-KR"/>
              <a:t>MainForm_Paint </a:t>
            </a:r>
            <a:r>
              <a:rPr lang="ko-KR" altLang="en-US"/>
              <a:t>작성 후 아래 </a:t>
            </a:r>
            <a:r>
              <a:rPr lang="ko-KR" altLang="en-US" dirty="0"/>
              <a:t>코드입력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981944" y="3933056"/>
            <a:ext cx="770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00FF"/>
                </a:solidFill>
              </a:rPr>
              <a:t>Graphics cheolsu </a:t>
            </a:r>
            <a:r>
              <a:rPr lang="en-US" altLang="ko-KR" sz="2400" dirty="0">
                <a:solidFill>
                  <a:srgbClr val="0000FF"/>
                </a:solidFill>
              </a:rPr>
              <a:t>= </a:t>
            </a:r>
            <a:r>
              <a:rPr lang="en-US" altLang="ko-KR" sz="2400" dirty="0" err="1">
                <a:solidFill>
                  <a:srgbClr val="0000FF"/>
                </a:solidFill>
              </a:rPr>
              <a:t>this.CreateGraphics</a:t>
            </a:r>
            <a:r>
              <a:rPr lang="en-US" altLang="ko-KR" sz="2400" dirty="0">
                <a:solidFill>
                  <a:srgbClr val="0000FF"/>
                </a:solidFill>
              </a:rPr>
              <a:t>(); //</a:t>
            </a:r>
            <a:r>
              <a:rPr lang="ko-KR" altLang="en-US" sz="2400" dirty="0">
                <a:solidFill>
                  <a:srgbClr val="0000FF"/>
                </a:solidFill>
              </a:rPr>
              <a:t>화가</a:t>
            </a:r>
            <a:endParaRPr lang="en-US" altLang="ko-KR" sz="2400" dirty="0">
              <a:solidFill>
                <a:srgbClr val="0000FF"/>
              </a:solidFill>
            </a:endParaRPr>
          </a:p>
          <a:p>
            <a:endParaRPr lang="en-US" altLang="ko-KR" sz="2400" dirty="0">
              <a:solidFill>
                <a:srgbClr val="0000FF"/>
              </a:solidFill>
            </a:endParaRPr>
          </a:p>
          <a:p>
            <a:r>
              <a:rPr lang="en-US" altLang="ko-KR" sz="2400">
                <a:solidFill>
                  <a:srgbClr val="0000FF"/>
                </a:solidFill>
              </a:rPr>
              <a:t>cheolsu.</a:t>
            </a:r>
            <a:r>
              <a:rPr lang="en-US" altLang="ko-KR" sz="2400" dirty="0" err="1">
                <a:solidFill>
                  <a:srgbClr val="0000FF"/>
                </a:solidFill>
              </a:rPr>
              <a:t>DrawString</a:t>
            </a:r>
            <a:r>
              <a:rPr lang="en-US" altLang="ko-KR" sz="2400" dirty="0">
                <a:solidFill>
                  <a:srgbClr val="0000FF"/>
                </a:solidFill>
              </a:rPr>
              <a:t>(“Click!", Font, </a:t>
            </a:r>
          </a:p>
          <a:p>
            <a:r>
              <a:rPr lang="en-US" altLang="ko-KR" sz="2400" dirty="0">
                <a:solidFill>
                  <a:srgbClr val="0000FF"/>
                </a:solidFill>
              </a:rPr>
              <a:t>           new </a:t>
            </a:r>
            <a:r>
              <a:rPr lang="en-US" altLang="ko-KR" sz="2400" dirty="0" err="1">
                <a:solidFill>
                  <a:srgbClr val="0000FF"/>
                </a:solidFill>
              </a:rPr>
              <a:t>SolidBrush</a:t>
            </a:r>
            <a:r>
              <a:rPr lang="en-US" altLang="ko-KR" sz="2400" dirty="0">
                <a:solidFill>
                  <a:srgbClr val="0000FF"/>
                </a:solidFill>
              </a:rPr>
              <a:t>(</a:t>
            </a:r>
            <a:r>
              <a:rPr lang="en-US" altLang="ko-KR" sz="2400" dirty="0" err="1">
                <a:solidFill>
                  <a:srgbClr val="0000FF"/>
                </a:solidFill>
              </a:rPr>
              <a:t>Color.Blue</a:t>
            </a:r>
            <a:r>
              <a:rPr lang="en-US" altLang="ko-KR" sz="2400" dirty="0">
                <a:solidFill>
                  <a:srgbClr val="0000FF"/>
                </a:solidFill>
              </a:rPr>
              <a:t>), 10, 10);</a:t>
            </a:r>
          </a:p>
        </p:txBody>
      </p:sp>
    </p:spTree>
    <p:extLst>
      <p:ext uri="{BB962C8B-B14F-4D97-AF65-F5344CB8AC3E}">
        <p14:creationId xmlns:p14="http://schemas.microsoft.com/office/powerpoint/2010/main" val="124684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09. </a:t>
            </a:r>
            <a:r>
              <a:rPr lang="en-US" altLang="ko-KR" dirty="0" err="1"/>
              <a:t>MouseDown</a:t>
            </a:r>
            <a:r>
              <a:rPr lang="en-US" altLang="ko-KR" dirty="0"/>
              <a:t> </a:t>
            </a:r>
            <a:r>
              <a:rPr lang="ko-KR" altLang="en-US" dirty="0"/>
              <a:t>이벤트 </a:t>
            </a:r>
            <a:r>
              <a:rPr lang="ko-KR" altLang="en-US" dirty="0" err="1"/>
              <a:t>핸들러</a:t>
            </a:r>
            <a:r>
              <a:rPr lang="ko-KR" altLang="en-US" dirty="0"/>
              <a:t> 작성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62880" y="1100213"/>
            <a:ext cx="8229600" cy="212365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Click</a:t>
            </a:r>
            <a:r>
              <a:rPr lang="ko-KR" altLang="en-US" dirty="0"/>
              <a:t>과 마찬가지로 마우스 버튼을 누르면 발생하는 이벤트</a:t>
            </a:r>
            <a:endParaRPr lang="en-US" altLang="ko-KR" dirty="0"/>
          </a:p>
          <a:p>
            <a:pPr lvl="1"/>
            <a:r>
              <a:rPr lang="en-US" altLang="ko-KR" dirty="0" err="1"/>
              <a:t>MouseUp</a:t>
            </a:r>
            <a:r>
              <a:rPr lang="en-US" altLang="ko-KR" dirty="0"/>
              <a:t> </a:t>
            </a:r>
            <a:r>
              <a:rPr lang="ko-KR" altLang="en-US" dirty="0"/>
              <a:t>이벤트는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결국 클릭하면 발생하는 이벤트들은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45232" y="3264521"/>
            <a:ext cx="814724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200" dirty="0"/>
              <a:t>private void </a:t>
            </a:r>
            <a:r>
              <a:rPr lang="en-US" altLang="ko-KR" sz="2200" dirty="0" err="1"/>
              <a:t>MainForm_</a:t>
            </a:r>
            <a:r>
              <a:rPr lang="en-US" altLang="ko-KR" sz="2200" dirty="0" err="1">
                <a:solidFill>
                  <a:srgbClr val="FF0000"/>
                </a:solidFill>
              </a:rPr>
              <a:t>MouseDown</a:t>
            </a:r>
            <a:r>
              <a:rPr lang="en-US" altLang="ko-KR" sz="2200" dirty="0"/>
              <a:t>(object sender, </a:t>
            </a:r>
            <a:r>
              <a:rPr lang="en-US" altLang="ko-KR" sz="2200" dirty="0" err="1"/>
              <a:t>MouseEventArgs</a:t>
            </a:r>
            <a:r>
              <a:rPr lang="en-US" altLang="ko-KR" sz="2200" dirty="0"/>
              <a:t> e)</a:t>
            </a:r>
          </a:p>
          <a:p>
            <a:r>
              <a:rPr lang="en-US" altLang="ko-KR" sz="2200" dirty="0"/>
              <a:t>{</a:t>
            </a:r>
          </a:p>
          <a:p>
            <a:r>
              <a:rPr lang="en-US" altLang="ko-KR" sz="2200" dirty="0"/>
              <a:t>    </a:t>
            </a:r>
            <a:r>
              <a:rPr lang="en-US" altLang="ko-KR" sz="2200">
                <a:solidFill>
                  <a:srgbClr val="0000FF"/>
                </a:solidFill>
              </a:rPr>
              <a:t>Graphics cheolsu </a:t>
            </a:r>
            <a:r>
              <a:rPr lang="en-US" altLang="ko-KR" sz="2200" dirty="0">
                <a:solidFill>
                  <a:srgbClr val="0000FF"/>
                </a:solidFill>
              </a:rPr>
              <a:t>= </a:t>
            </a:r>
            <a:r>
              <a:rPr lang="en-US" altLang="ko-KR" sz="2200" dirty="0" err="1">
                <a:solidFill>
                  <a:srgbClr val="0000FF"/>
                </a:solidFill>
              </a:rPr>
              <a:t>this.CreateGraphics</a:t>
            </a:r>
            <a:r>
              <a:rPr lang="en-US" altLang="ko-KR" sz="22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ko-KR" sz="2200">
                <a:solidFill>
                  <a:srgbClr val="0000FF"/>
                </a:solidFill>
              </a:rPr>
              <a:t>    cheolsu.</a:t>
            </a:r>
            <a:r>
              <a:rPr lang="en-US" altLang="ko-KR" sz="2200" dirty="0" err="1">
                <a:solidFill>
                  <a:srgbClr val="0000FF"/>
                </a:solidFill>
              </a:rPr>
              <a:t>DrawRectangle</a:t>
            </a:r>
            <a:r>
              <a:rPr lang="en-US" altLang="ko-KR" sz="2200" dirty="0">
                <a:solidFill>
                  <a:srgbClr val="0000FF"/>
                </a:solidFill>
              </a:rPr>
              <a:t>(new Pen(</a:t>
            </a:r>
            <a:r>
              <a:rPr lang="en-US" altLang="ko-KR" sz="2200" dirty="0" err="1">
                <a:solidFill>
                  <a:srgbClr val="0000FF"/>
                </a:solidFill>
              </a:rPr>
              <a:t>Color.Red</a:t>
            </a:r>
            <a:r>
              <a:rPr lang="en-US" altLang="ko-KR" sz="2200" dirty="0">
                <a:solidFill>
                  <a:srgbClr val="0000FF"/>
                </a:solidFill>
              </a:rPr>
              <a:t>), </a:t>
            </a:r>
            <a:r>
              <a:rPr lang="en-US" altLang="ko-KR" sz="2200" dirty="0" err="1">
                <a:solidFill>
                  <a:srgbClr val="FF0000"/>
                </a:solidFill>
              </a:rPr>
              <a:t>e.X</a:t>
            </a:r>
            <a:r>
              <a:rPr lang="en-US" altLang="ko-KR" sz="2200" dirty="0">
                <a:solidFill>
                  <a:srgbClr val="FF0000"/>
                </a:solidFill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</a:rPr>
              <a:t>e.Y</a:t>
            </a:r>
            <a:r>
              <a:rPr lang="en-US" altLang="ko-KR" sz="2200" dirty="0">
                <a:solidFill>
                  <a:srgbClr val="FF0000"/>
                </a:solidFill>
              </a:rPr>
              <a:t>, </a:t>
            </a:r>
            <a:r>
              <a:rPr lang="en-US" altLang="ko-KR" sz="2200" dirty="0">
                <a:solidFill>
                  <a:srgbClr val="0000FF"/>
                </a:solidFill>
              </a:rPr>
              <a:t>50, 50);</a:t>
            </a:r>
          </a:p>
          <a:p>
            <a:r>
              <a:rPr lang="en-US" altLang="ko-KR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637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5" name="_x116622792" descr="EMB00000a3839e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490" y="548680"/>
            <a:ext cx="8017020" cy="36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4214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</a:t>
            </a:r>
            <a:r>
              <a:rPr lang="ko-KR" altLang="en-US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함수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제거</a:t>
            </a:r>
            <a:r>
              <a:rPr lang="ko-KR" altLang="en-US"/>
              <a:t> 연습하기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속성 창에서 </a:t>
            </a:r>
            <a:r>
              <a:rPr lang="en-US" altLang="ko-KR" dirty="0"/>
              <a:t>Click </a:t>
            </a:r>
            <a:r>
              <a:rPr lang="ko-KR" altLang="en-US" dirty="0" err="1"/>
              <a:t>핸들러</a:t>
            </a:r>
            <a:r>
              <a:rPr lang="ko-KR" altLang="en-US" dirty="0"/>
              <a:t> 함수 이름 </a:t>
            </a:r>
            <a:r>
              <a:rPr lang="en-US" altLang="ko-KR" dirty="0" err="1"/>
              <a:t>MainForm_Click</a:t>
            </a:r>
            <a:r>
              <a:rPr lang="ko-KR" altLang="en-US" dirty="0"/>
              <a:t>을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지운 후</a:t>
            </a:r>
            <a:r>
              <a:rPr lang="ko-KR" altLang="en-US" dirty="0"/>
              <a:t> </a:t>
            </a:r>
            <a:r>
              <a:rPr lang="en-US" altLang="ko-KR" dirty="0"/>
              <a:t>Ctrl + S </a:t>
            </a:r>
            <a:r>
              <a:rPr lang="ko-KR" altLang="en-US" dirty="0"/>
              <a:t>키를 </a:t>
            </a:r>
            <a:r>
              <a:rPr lang="ko-KR" altLang="en-US"/>
              <a:t>눌러 저장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9457" name="_x116622952" descr="EMB00000a3839f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2366953"/>
            <a:ext cx="3888432" cy="39893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</a:t>
            </a:r>
            <a:r>
              <a:rPr lang="ko-KR" altLang="en-US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함수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제거</a:t>
            </a:r>
            <a:r>
              <a:rPr lang="ko-KR" altLang="en-US"/>
              <a:t> 연습하기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하지만</a:t>
            </a:r>
            <a:r>
              <a:rPr lang="en-US" altLang="ko-KR"/>
              <a:t>, </a:t>
            </a:r>
          </a:p>
          <a:p>
            <a:pPr lvl="1"/>
            <a:r>
              <a:rPr lang="en-US" altLang="ko-KR"/>
              <a:t>MainForm</a:t>
            </a:r>
            <a:r>
              <a:rPr lang="en-US" altLang="ko-KR" dirty="0" err="1"/>
              <a:t>_Click</a:t>
            </a:r>
            <a:r>
              <a:rPr lang="en-US" altLang="ko-KR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함수 자체는 제거되지 않음</a:t>
            </a:r>
            <a:r>
              <a:rPr lang="en-US" altLang="ko-KR" dirty="0"/>
              <a:t>. </a:t>
            </a:r>
          </a:p>
          <a:p>
            <a:r>
              <a:rPr lang="ko-KR" altLang="en-US"/>
              <a:t>왜냐하면 </a:t>
            </a:r>
            <a:endParaRPr lang="en-US" altLang="ko-KR"/>
          </a:p>
          <a:p>
            <a:pPr lvl="1"/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혹시나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실수로</a:t>
            </a:r>
            <a:r>
              <a:rPr lang="ko-KR" altLang="en-US" dirty="0"/>
              <a:t> 힘들게 작성한 코드가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삭제</a:t>
            </a:r>
            <a:r>
              <a:rPr lang="ko-KR" altLang="en-US" dirty="0"/>
              <a:t>될 수도 있으므로</a:t>
            </a:r>
            <a:r>
              <a:rPr lang="en-US" altLang="ko-KR" dirty="0"/>
              <a:t>...</a:t>
            </a:r>
          </a:p>
          <a:p>
            <a:r>
              <a:rPr lang="ko-KR" altLang="en-US"/>
              <a:t>따라서 </a:t>
            </a:r>
            <a:endParaRPr lang="en-US" altLang="ko-KR"/>
          </a:p>
          <a:p>
            <a:pPr lvl="1"/>
            <a:r>
              <a:rPr lang="ko-KR" altLang="en-US"/>
              <a:t>핸들러 함수를 확인하고 </a:t>
            </a:r>
            <a:r>
              <a:rPr lang="ko-KR" altLang="en-US">
                <a:solidFill>
                  <a:srgbClr val="FF0000"/>
                </a:solidFill>
              </a:rPr>
              <a:t>직접 본인이 삭제</a:t>
            </a:r>
            <a:r>
              <a:rPr lang="ko-KR" altLang="en-US"/>
              <a:t>하라는 </a:t>
            </a:r>
            <a:r>
              <a:rPr lang="ko-KR" altLang="en-US" dirty="0"/>
              <a:t>의미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가상함수 </a:t>
            </a:r>
            <a:r>
              <a:rPr lang="ko-KR" altLang="en-US" err="1"/>
              <a:t>오버라이딩</a:t>
            </a:r>
            <a:r>
              <a:rPr lang="ko-KR" altLang="en-US"/>
              <a:t> 연습하기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override</a:t>
            </a:r>
            <a:r>
              <a:rPr lang="ko-KR" altLang="en-US"/>
              <a:t>를 입력하여 선택하면 자동완성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71600" y="4434614"/>
            <a:ext cx="70567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protected </a:t>
            </a:r>
            <a:r>
              <a:rPr lang="en-US" altLang="ko-KR" sz="2400" dirty="0">
                <a:solidFill>
                  <a:srgbClr val="0000FF"/>
                </a:solidFill>
              </a:rPr>
              <a:t>override</a:t>
            </a:r>
            <a:r>
              <a:rPr lang="en-US" altLang="ko-KR" sz="2400" dirty="0"/>
              <a:t> void </a:t>
            </a:r>
            <a:r>
              <a:rPr lang="en-US" altLang="ko-KR" sz="2400" dirty="0" err="1"/>
              <a:t>OnClick</a:t>
            </a:r>
            <a:r>
              <a:rPr lang="en-US" altLang="ko-KR" sz="2400" dirty="0"/>
              <a:t>(</a:t>
            </a:r>
            <a:r>
              <a:rPr lang="en-US" altLang="ko-KR" sz="2400" dirty="0" err="1"/>
              <a:t>EventArgs</a:t>
            </a:r>
            <a:r>
              <a:rPr lang="en-US" altLang="ko-KR" sz="2400" dirty="0"/>
              <a:t> e)</a:t>
            </a:r>
          </a:p>
          <a:p>
            <a:r>
              <a:rPr lang="en-US" altLang="ko-KR" sz="2400" dirty="0"/>
              <a:t>{</a:t>
            </a:r>
          </a:p>
          <a:p>
            <a:r>
              <a:rPr lang="en-US" altLang="ko-KR" sz="2400" dirty="0"/>
              <a:t>	//</a:t>
            </a:r>
            <a:r>
              <a:rPr lang="en-US" altLang="ko-KR" sz="2400" dirty="0" err="1"/>
              <a:t>base.OnClick</a:t>
            </a:r>
            <a:r>
              <a:rPr lang="en-US" altLang="ko-KR" sz="2400" dirty="0"/>
              <a:t>(e);</a:t>
            </a:r>
            <a:endParaRPr lang="ko-KR" altLang="en-US" sz="2400" dirty="0"/>
          </a:p>
          <a:p>
            <a:r>
              <a:rPr lang="en-US" altLang="ko-KR" sz="24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A5B4AF-6768-114B-4464-010248FF41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936"/>
          <a:stretch/>
        </p:blipFill>
        <p:spPr>
          <a:xfrm>
            <a:off x="1043608" y="1844824"/>
            <a:ext cx="4339605" cy="23596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12. </a:t>
            </a:r>
            <a:r>
              <a:rPr lang="ko-KR" altLang="en-US"/>
              <a:t>폼</a:t>
            </a:r>
            <a:r>
              <a:rPr lang="en-US" altLang="ko-KR"/>
              <a:t> </a:t>
            </a:r>
            <a:r>
              <a:rPr lang="ko-KR" altLang="en-US"/>
              <a:t>윈도에 버튼 추가 </a:t>
            </a:r>
            <a:r>
              <a:rPr lang="en-US" altLang="ko-KR" spc="-500"/>
              <a:t>(</a:t>
            </a:r>
            <a:r>
              <a:rPr lang="ko-KR" altLang="en-US" spc="-500">
                <a:solidFill>
                  <a:schemeClr val="accent6"/>
                </a:solidFill>
              </a:rPr>
              <a:t>직접</a:t>
            </a:r>
            <a:r>
              <a:rPr lang="ko-KR" altLang="en-US" spc="-500"/>
              <a:t> </a:t>
            </a:r>
            <a:r>
              <a:rPr lang="ko-KR" altLang="en-US" spc="-500">
                <a:solidFill>
                  <a:schemeClr val="accent6"/>
                </a:solidFill>
              </a:rPr>
              <a:t>코딩</a:t>
            </a:r>
            <a:r>
              <a:rPr lang="en-US" altLang="ko-KR" spc="-500"/>
              <a:t>)</a:t>
            </a:r>
            <a:endParaRPr lang="ko-KR" altLang="en-US" spc="-5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11560" y="1221715"/>
            <a:ext cx="777686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>
                <a:solidFill>
                  <a:srgbClr val="0000FF"/>
                </a:solidFill>
              </a:rPr>
              <a:t>using Systm.Windows.Forms;</a:t>
            </a:r>
          </a:p>
          <a:p>
            <a:r>
              <a:rPr lang="en-US" altLang="ko-KR">
                <a:solidFill>
                  <a:srgbClr val="0000FF"/>
                </a:solidFill>
              </a:rPr>
              <a:t>using System.Drawing;</a:t>
            </a:r>
          </a:p>
          <a:p>
            <a:r>
              <a:rPr lang="en-US" altLang="ko-KR">
                <a:solidFill>
                  <a:srgbClr val="0000FF"/>
                </a:solidFill>
              </a:rPr>
              <a:t>using System;</a:t>
            </a:r>
          </a:p>
          <a:p>
            <a:endParaRPr lang="en-US" altLang="ko-KR">
              <a:solidFill>
                <a:srgbClr val="0000FF"/>
              </a:solidFill>
            </a:endParaRPr>
          </a:p>
          <a:p>
            <a:r>
              <a:rPr lang="en-US" altLang="ko-KR"/>
              <a:t>class </a:t>
            </a:r>
            <a:r>
              <a:rPr lang="en-US" altLang="ko-KR" dirty="0" err="1"/>
              <a:t>MainForm</a:t>
            </a:r>
            <a:r>
              <a:rPr lang="en-US" altLang="ko-KR" dirty="0"/>
              <a:t> : Form</a:t>
            </a:r>
          </a:p>
          <a:p>
            <a:r>
              <a:rPr lang="en-US" altLang="ko-KR" dirty="0"/>
              <a:t>{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Button 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dirty="0">
                <a:solidFill>
                  <a:srgbClr val="0000FF"/>
                </a:solidFill>
              </a:rPr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    public void </a:t>
            </a:r>
            <a:r>
              <a:rPr lang="en-US" altLang="ko-KR" dirty="0" err="1"/>
              <a:t>InitializeComponent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    {</a:t>
            </a:r>
          </a:p>
          <a:p>
            <a:r>
              <a:rPr lang="en-US" altLang="ko-KR" dirty="0"/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dirty="0">
                <a:solidFill>
                  <a:srgbClr val="0000FF"/>
                </a:solidFill>
              </a:rPr>
              <a:t> = new Button();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btn.Text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r>
              <a:rPr lang="en-US" altLang="ko-KR">
                <a:solidFill>
                  <a:srgbClr val="0000FF"/>
                </a:solidFill>
              </a:rPr>
              <a:t>= "Hello";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btn.Location</a:t>
            </a:r>
            <a:r>
              <a:rPr lang="en-US" altLang="ko-KR" dirty="0">
                <a:solidFill>
                  <a:srgbClr val="0000FF"/>
                </a:solidFill>
              </a:rPr>
              <a:t> = new Point(100, 100);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btn.Size</a:t>
            </a:r>
            <a:r>
              <a:rPr lang="en-US" altLang="ko-KR" dirty="0">
                <a:solidFill>
                  <a:srgbClr val="0000FF"/>
                </a:solidFill>
              </a:rPr>
              <a:t> = new Size(100, 30);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Controls.Add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dirty="0">
                <a:solidFill>
                  <a:srgbClr val="0000FF"/>
                </a:solidFill>
              </a:rPr>
              <a:t>);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21C32-D9A6-43E3-9546-C3B47A6536BD}"/>
              </a:ext>
            </a:extLst>
          </p:cNvPr>
          <p:cNvSpPr txBox="1"/>
          <p:nvPr/>
        </p:nvSpPr>
        <p:spPr>
          <a:xfrm rot="21120852">
            <a:off x="5303129" y="1655020"/>
            <a:ext cx="2500141" cy="70788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marL="92075" indent="-92075"/>
            <a:r>
              <a:rPr lang="en-US" altLang="ko-KR" sz="20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“</a:t>
            </a:r>
            <a:r>
              <a:rPr lang="ko-KR" altLang="en-US" sz="20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직접 작성하니 매우 귀찮다</a:t>
            </a:r>
            <a:r>
              <a:rPr lang="en-US" altLang="ko-KR" sz="20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!”</a:t>
            </a:r>
            <a:endParaRPr lang="ko-KR" altLang="en-US" sz="2000" dirty="0">
              <a:solidFill>
                <a:schemeClr val="bg1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863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20F49A6-E130-4F15-8437-E8B4E811070E}"/>
              </a:ext>
            </a:extLst>
          </p:cNvPr>
          <p:cNvSpPr/>
          <p:nvPr/>
        </p:nvSpPr>
        <p:spPr>
          <a:xfrm>
            <a:off x="611560" y="1221715"/>
            <a:ext cx="77768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>
                <a:solidFill>
                  <a:srgbClr val="0000FF"/>
                </a:solidFill>
              </a:rPr>
              <a:t>using Systm.Windows.Forms;</a:t>
            </a:r>
          </a:p>
          <a:p>
            <a:r>
              <a:rPr lang="en-US" altLang="ko-KR">
                <a:solidFill>
                  <a:srgbClr val="0000FF"/>
                </a:solidFill>
              </a:rPr>
              <a:t>using System.Drawing;</a:t>
            </a:r>
          </a:p>
          <a:p>
            <a:r>
              <a:rPr lang="en-US" altLang="ko-KR">
                <a:solidFill>
                  <a:srgbClr val="0000FF"/>
                </a:solidFill>
              </a:rPr>
              <a:t>using System;</a:t>
            </a:r>
          </a:p>
          <a:p>
            <a:endParaRPr lang="en-US" altLang="ko-KR">
              <a:solidFill>
                <a:srgbClr val="0000FF"/>
              </a:solidFill>
            </a:endParaRPr>
          </a:p>
          <a:p>
            <a:r>
              <a:rPr lang="en-US" altLang="ko-KR"/>
              <a:t>class </a:t>
            </a:r>
            <a:r>
              <a:rPr lang="en-US" altLang="ko-KR" dirty="0" err="1"/>
              <a:t>MainForm</a:t>
            </a:r>
            <a:r>
              <a:rPr lang="en-US" altLang="ko-KR" dirty="0"/>
              <a:t> : Form</a:t>
            </a:r>
          </a:p>
          <a:p>
            <a:r>
              <a:rPr lang="en-US" altLang="ko-KR" dirty="0"/>
              <a:t>{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Button 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dirty="0">
                <a:solidFill>
                  <a:srgbClr val="0000FF"/>
                </a:solidFill>
              </a:rPr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    public void </a:t>
            </a:r>
            <a:r>
              <a:rPr lang="en-US" altLang="ko-KR" dirty="0" err="1"/>
              <a:t>InitializeComponent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    {</a:t>
            </a:r>
          </a:p>
          <a:p>
            <a:r>
              <a:rPr lang="en-US" altLang="ko-KR" dirty="0"/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dirty="0">
                <a:solidFill>
                  <a:srgbClr val="0000FF"/>
                </a:solidFill>
              </a:rPr>
              <a:t> = new Button();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btn.Text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r>
              <a:rPr lang="en-US" altLang="ko-KR">
                <a:solidFill>
                  <a:srgbClr val="0000FF"/>
                </a:solidFill>
              </a:rPr>
              <a:t>= "Hello";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btn.Location</a:t>
            </a:r>
            <a:r>
              <a:rPr lang="en-US" altLang="ko-KR" dirty="0">
                <a:solidFill>
                  <a:srgbClr val="0000FF"/>
                </a:solidFill>
              </a:rPr>
              <a:t> = new Point(100, 100);</a:t>
            </a:r>
          </a:p>
          <a:p>
            <a:r>
              <a:rPr lang="en-US" altLang="ko-KR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err="1">
                <a:solidFill>
                  <a:srgbClr val="0000FF"/>
                </a:solidFill>
              </a:rPr>
              <a:t>.</a:t>
            </a:r>
            <a:r>
              <a:rPr lang="en-US" altLang="ko-KR">
                <a:solidFill>
                  <a:srgbClr val="0000FF"/>
                </a:solidFill>
              </a:rPr>
              <a:t>Size</a:t>
            </a:r>
            <a:r>
              <a:rPr lang="en-US" altLang="ko-KR" dirty="0">
                <a:solidFill>
                  <a:srgbClr val="0000FF"/>
                </a:solidFill>
              </a:rPr>
              <a:t> = new Size(100</a:t>
            </a:r>
            <a:r>
              <a:rPr lang="en-US" altLang="ko-KR">
                <a:solidFill>
                  <a:srgbClr val="0000FF"/>
                </a:solidFill>
              </a:rPr>
              <a:t>, 30);</a:t>
            </a:r>
          </a:p>
          <a:p>
            <a:pPr defTabSz="622300"/>
            <a:r>
              <a:rPr lang="en-US" altLang="ko-KR">
                <a:solidFill>
                  <a:srgbClr val="0000FF"/>
                </a:solidFill>
              </a:rPr>
              <a:t>	</a:t>
            </a:r>
            <a:r>
              <a:rPr lang="ko-KR" altLang="en-US">
                <a:solidFill>
                  <a:srgbClr val="00B0F0"/>
                </a:solidFill>
              </a:rPr>
              <a:t>btn.Click += new System.EventHandler(this.yyy);</a:t>
            </a:r>
            <a:endParaRPr lang="en-US" altLang="ko-KR" dirty="0">
              <a:solidFill>
                <a:srgbClr val="00B0F0"/>
              </a:solidFill>
            </a:endParaRPr>
          </a:p>
          <a:p>
            <a:r>
              <a:rPr lang="en-US" altLang="ko-KR">
                <a:solidFill>
                  <a:srgbClr val="0000FF"/>
                </a:solidFill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</a:rPr>
              <a:t>Controls.Add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en-US" altLang="ko-KR" dirty="0" err="1">
                <a:solidFill>
                  <a:srgbClr val="0000FF"/>
                </a:solidFill>
              </a:rPr>
              <a:t>btn</a:t>
            </a:r>
            <a:r>
              <a:rPr lang="en-US" altLang="ko-KR" dirty="0">
                <a:solidFill>
                  <a:srgbClr val="0000FF"/>
                </a:solidFill>
              </a:rPr>
              <a:t>);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DA0CBD-2FCB-4DC8-8664-639090BC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706090"/>
          </a:xfrm>
        </p:spPr>
        <p:txBody>
          <a:bodyPr>
            <a:normAutofit/>
          </a:bodyPr>
          <a:lstStyle/>
          <a:p>
            <a:r>
              <a:rPr lang="en-US" altLang="ko-KR"/>
              <a:t>13. </a:t>
            </a:r>
            <a:r>
              <a:rPr lang="ko-KR" altLang="en-US"/>
              <a:t>버튼 </a:t>
            </a:r>
            <a:r>
              <a:rPr lang="en-US" altLang="ko-KR"/>
              <a:t>Click</a:t>
            </a:r>
            <a:r>
              <a:rPr lang="ko-KR" altLang="en-US"/>
              <a:t>에 핸들러 함수 연결</a:t>
            </a:r>
            <a:r>
              <a:rPr lang="en-US" altLang="ko-KR" spc="-500"/>
              <a:t> (</a:t>
            </a:r>
            <a:r>
              <a:rPr lang="ko-KR" altLang="en-US" spc="-500">
                <a:solidFill>
                  <a:schemeClr val="accent6"/>
                </a:solidFill>
              </a:rPr>
              <a:t>직접</a:t>
            </a:r>
            <a:r>
              <a:rPr lang="ko-KR" altLang="en-US" spc="-500"/>
              <a:t> </a:t>
            </a:r>
            <a:r>
              <a:rPr lang="ko-KR" altLang="en-US" spc="-500">
                <a:solidFill>
                  <a:schemeClr val="accent6"/>
                </a:solidFill>
              </a:rPr>
              <a:t>코딩</a:t>
            </a:r>
            <a:r>
              <a:rPr lang="en-US" altLang="ko-KR" spc="-500"/>
              <a:t>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F09C0-097D-4FC1-B20D-823C726E9EE6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21162532">
            <a:off x="5526351" y="3493079"/>
            <a:ext cx="2075569" cy="702914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ko-KR" altLang="en-US" sz="2400"/>
              <a:t>버튼 및 관련 코드 </a:t>
            </a:r>
            <a:endParaRPr lang="en-US" altLang="ko-KR" sz="2400"/>
          </a:p>
          <a:p>
            <a:pPr marL="0" indent="0" algn="ctr">
              <a:buNone/>
            </a:pPr>
            <a:r>
              <a:rPr lang="ko-KR" altLang="en-US" sz="2400">
                <a:solidFill>
                  <a:srgbClr val="FF0000"/>
                </a:solidFill>
              </a:rPr>
              <a:t>제거</a:t>
            </a:r>
            <a:r>
              <a:rPr lang="ko-KR" altLang="en-US" sz="2400"/>
              <a:t>해 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3A1A3A-D3FB-4F65-BB73-B9111F0A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6687D-C544-4544-808C-ADD42D5C9657}"/>
              </a:ext>
            </a:extLst>
          </p:cNvPr>
          <p:cNvSpPr txBox="1"/>
          <p:nvPr/>
        </p:nvSpPr>
        <p:spPr>
          <a:xfrm rot="21120852">
            <a:off x="5303129" y="1655020"/>
            <a:ext cx="2500141" cy="70788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marL="92075" indent="-92075"/>
            <a:r>
              <a:rPr lang="en-US" altLang="ko-KR" sz="20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“</a:t>
            </a:r>
            <a:r>
              <a:rPr lang="ko-KR" altLang="en-US" sz="20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직접 작성하니 매우 귀찮다</a:t>
            </a:r>
            <a:r>
              <a:rPr lang="en-US" altLang="ko-KR" sz="20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!”</a:t>
            </a:r>
            <a:endParaRPr lang="ko-KR" altLang="en-US" sz="2000" dirty="0">
              <a:solidFill>
                <a:schemeClr val="bg1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202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14. </a:t>
            </a:r>
            <a:r>
              <a:rPr lang="ko-KR" altLang="en-US"/>
              <a:t>폼</a:t>
            </a:r>
            <a:r>
              <a:rPr lang="en-US" altLang="ko-KR"/>
              <a:t> </a:t>
            </a:r>
            <a:r>
              <a:rPr lang="ko-KR" altLang="en-US"/>
              <a:t>윈도에 버튼 추가하기 </a:t>
            </a:r>
            <a:r>
              <a:rPr lang="en-US" altLang="ko-KR" spc="-500"/>
              <a:t>(</a:t>
            </a:r>
            <a:r>
              <a:rPr lang="ko-KR" altLang="en-US" spc="-500">
                <a:solidFill>
                  <a:schemeClr val="accent6"/>
                </a:solidFill>
              </a:rPr>
              <a:t>도구 이용</a:t>
            </a:r>
            <a:r>
              <a:rPr lang="en-US" altLang="ko-KR" spc="-50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7F048-D1E7-41D8-901F-0C4295396804}"/>
              </a:ext>
            </a:extLst>
          </p:cNvPr>
          <p:cNvSpPr txBox="1"/>
          <p:nvPr/>
        </p:nvSpPr>
        <p:spPr>
          <a:xfrm rot="21120852">
            <a:off x="1733505" y="4714616"/>
            <a:ext cx="3279085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marL="180975" indent="-180975"/>
            <a:r>
              <a:rPr lang="en-US" altLang="ko-KR" sz="24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“</a:t>
            </a:r>
            <a:r>
              <a:rPr lang="ko-KR" altLang="en-US" sz="24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마우스로 비주얼 디자인 하니 쉽고 편하다</a:t>
            </a:r>
            <a:r>
              <a:rPr lang="en-US" altLang="ko-KR" sz="24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!”</a:t>
            </a:r>
            <a:endParaRPr lang="ko-KR" altLang="en-US" sz="2400" dirty="0">
              <a:solidFill>
                <a:schemeClr val="bg1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F73B4FE-FC65-4CFE-9712-14420D71A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059543"/>
            <a:ext cx="4968552" cy="3895238"/>
          </a:xfrm>
        </p:spPr>
        <p:txBody>
          <a:bodyPr>
            <a:normAutofit/>
          </a:bodyPr>
          <a:lstStyle/>
          <a:p>
            <a:r>
              <a:rPr lang="ko-KR" altLang="en-US"/>
              <a:t>비주얼 디자인 </a:t>
            </a:r>
            <a:endParaRPr lang="en-US" altLang="ko-KR"/>
          </a:p>
          <a:p>
            <a:pPr lvl="1"/>
            <a:r>
              <a:rPr lang="ko-KR" altLang="en-US"/>
              <a:t>폼 디자인 열기</a:t>
            </a:r>
            <a:endParaRPr lang="en-US" altLang="ko-KR"/>
          </a:p>
          <a:p>
            <a:pPr lvl="1"/>
            <a:r>
              <a:rPr lang="ko-KR" altLang="en-US"/>
              <a:t>보기 </a:t>
            </a:r>
            <a:r>
              <a:rPr lang="en-US" altLang="ko-KR"/>
              <a:t>| </a:t>
            </a:r>
            <a:r>
              <a:rPr lang="ko-KR" altLang="en-US"/>
              <a:t>도구 상자 메뉴 선택</a:t>
            </a:r>
            <a:endParaRPr lang="en-US" altLang="ko-KR"/>
          </a:p>
          <a:p>
            <a:pPr lvl="1"/>
            <a:r>
              <a:rPr lang="ko-KR" altLang="en-US"/>
              <a:t>고정 핀 눌러 도구 상자 항상 표시되도록 고정</a:t>
            </a:r>
            <a:endParaRPr lang="en-US" altLang="ko-KR"/>
          </a:p>
          <a:p>
            <a:pPr lvl="1"/>
            <a:r>
              <a:rPr lang="ko-KR" altLang="en-US"/>
              <a:t>버튼</a:t>
            </a:r>
            <a:r>
              <a:rPr lang="en-US" altLang="ko-KR"/>
              <a:t>(Button)</a:t>
            </a:r>
            <a:r>
              <a:rPr lang="ko-KR" altLang="en-US"/>
              <a:t> 드래그</a:t>
            </a:r>
            <a:r>
              <a:rPr lang="en-US" altLang="ko-KR"/>
              <a:t>-</a:t>
            </a:r>
            <a:r>
              <a:rPr lang="ko-KR" altLang="en-US"/>
              <a:t>앤</a:t>
            </a:r>
            <a:r>
              <a:rPr lang="en-US" altLang="ko-KR"/>
              <a:t>-</a:t>
            </a:r>
            <a:r>
              <a:rPr lang="ko-KR" altLang="en-US"/>
              <a:t>드롭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D6784B-D403-415E-B4E1-64C2F71D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196752"/>
            <a:ext cx="2495238" cy="3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6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10994</TotalTime>
  <Words>715</Words>
  <Application>Microsoft Office PowerPoint</Application>
  <PresentationFormat>화면 슬라이드 쇼(4:3)</PresentationFormat>
  <Paragraphs>135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Rix고딕 B</vt:lpstr>
      <vt:lpstr>Rix고딕 M</vt:lpstr>
      <vt:lpstr>맑은 고딕</vt:lpstr>
      <vt:lpstr>Arial</vt:lpstr>
      <vt:lpstr>Office 테마</vt:lpstr>
      <vt:lpstr>제7장  마술사를 이용한 코딩 연습</vt:lpstr>
      <vt:lpstr>코딩 연습</vt:lpstr>
      <vt:lpstr>01. 프로젝트 작성 및 사전작업</vt:lpstr>
      <vt:lpstr>02. 폼 윈도우 비주얼 디자인</vt:lpstr>
      <vt:lpstr>PowerPoint 프레젠테이션</vt:lpstr>
      <vt:lpstr>03. 핸들러 함수 추가</vt:lpstr>
      <vt:lpstr>04. 자동으로 생성된 코드 확인</vt:lpstr>
      <vt:lpstr>05. 핸들러 함수 이름 변경 연습하기 </vt:lpstr>
      <vt:lpstr>06. 핸들러 함수 코드 작성 연습하기</vt:lpstr>
      <vt:lpstr>07. 문제점</vt:lpstr>
      <vt:lpstr>08. Paint 이벤트와 핸들러 함수 작성 </vt:lpstr>
      <vt:lpstr>09. MouseDown 이벤트 핸들러 작성</vt:lpstr>
      <vt:lpstr>PowerPoint 프레젠테이션</vt:lpstr>
      <vt:lpstr>10. 핸들러 함수 제거 연습하기</vt:lpstr>
      <vt:lpstr>10. 핸들러 함수 제거 연습하기</vt:lpstr>
      <vt:lpstr>11. 가상함수 오버라이딩 연습하기</vt:lpstr>
      <vt:lpstr>12. 폼 윈도에 버튼 추가 (직접 코딩)</vt:lpstr>
      <vt:lpstr>13. 버튼 Click에 핸들러 함수 연결 (직접 코딩)</vt:lpstr>
      <vt:lpstr>14. 폼 윈도에 버튼 추가하기 (도구 이용)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변영철</cp:lastModifiedBy>
  <cp:revision>427</cp:revision>
  <dcterms:created xsi:type="dcterms:W3CDTF">2006-10-05T04:04:58Z</dcterms:created>
  <dcterms:modified xsi:type="dcterms:W3CDTF">2025-11-11T04:55:12Z</dcterms:modified>
</cp:coreProperties>
</file>